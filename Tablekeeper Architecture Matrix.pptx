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F8C77-1830-438B-868F-3A2ACFC5E44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3AD1C-E5B8-4469-9E29-AA4B744F561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Tablekeeper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Architecture Matrix: A Fault-Tolerant, Concurrent Multi-Agent Reservation Engine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Shreya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Sinha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autonomous multi-agent restaurant reservation engine built for complex distributed operations. It features strict time-slot allocation isolation to guarantee zero double-bookings, cross-node </a:t>
            </a:r>
            <a:r>
              <a:rPr lang="en-US" dirty="0" err="1" smtClean="0"/>
              <a:t>timezone</a:t>
            </a:r>
            <a:r>
              <a:rPr lang="en-US" dirty="0" smtClean="0"/>
              <a:t> normalization to prevent regional clock drift, and an automated background escrow hold and auditor pipeline that completely secures data integrity and transaction mechanics without human intervention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Core Message:</a:t>
            </a:r>
            <a:r>
              <a:rPr lang="en-US" dirty="0"/>
              <a:t> Distributed transaction networks break down under high parallel traffic.</a:t>
            </a:r>
          </a:p>
          <a:p>
            <a:r>
              <a:rPr lang="en-US" b="1" dirty="0"/>
              <a:t>Key Bullet Points:</a:t>
            </a:r>
            <a:endParaRPr lang="en-US" dirty="0"/>
          </a:p>
          <a:p>
            <a:pPr lvl="1"/>
            <a:r>
              <a:rPr lang="en-US" b="1" dirty="0"/>
              <a:t>Double-Booking Race Conditions:</a:t>
            </a:r>
            <a:r>
              <a:rPr lang="en-US" dirty="0"/>
              <a:t> Competing asynchronous user requests often try to claim the exact same database entry grid space simultaneously.</a:t>
            </a:r>
          </a:p>
          <a:p>
            <a:pPr lvl="1"/>
            <a:r>
              <a:rPr lang="en-US" b="1" dirty="0" err="1"/>
              <a:t>Timezone</a:t>
            </a:r>
            <a:r>
              <a:rPr lang="en-US" b="1" dirty="0"/>
              <a:t> Coordinate Drift:</a:t>
            </a:r>
            <a:r>
              <a:rPr lang="en-US" dirty="0"/>
              <a:t> Naïve </a:t>
            </a:r>
            <a:r>
              <a:rPr lang="en-US" dirty="0" err="1"/>
              <a:t>datetime</a:t>
            </a:r>
            <a:r>
              <a:rPr lang="en-US" dirty="0"/>
              <a:t> definitions cause silent scheduling overlaps when operations span multiple regions (e.g., NYC vs. London).</a:t>
            </a:r>
          </a:p>
          <a:p>
            <a:pPr lvl="1"/>
            <a:r>
              <a:rPr lang="en-US" b="1" dirty="0"/>
              <a:t>Operational Bottlenecks:</a:t>
            </a:r>
            <a:r>
              <a:rPr lang="en-US" dirty="0"/>
              <a:t> Manual intervention requirements for tracking dynamic waitlist shunting or enforcing no-show penalties slow down system execution.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Solution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Core Message:</a:t>
            </a:r>
            <a:r>
              <a:rPr lang="en-US" dirty="0"/>
              <a:t> A completely decentralized, fault-tolerant reservation ledger driven by pure Python logic and wrapped inside generic agent </a:t>
            </a:r>
            <a:r>
              <a:rPr lang="en-US" dirty="0" smtClean="0"/>
              <a:t>profiles</a:t>
            </a:r>
            <a:endParaRPr lang="en-US" dirty="0"/>
          </a:p>
          <a:p>
            <a:r>
              <a:rPr lang="en-US" b="1" dirty="0"/>
              <a:t>Key Bullet Points:</a:t>
            </a:r>
            <a:endParaRPr lang="en-US" dirty="0"/>
          </a:p>
          <a:p>
            <a:pPr lvl="1"/>
            <a:r>
              <a:rPr lang="en-US" b="1" dirty="0"/>
              <a:t>Algorithmic Separation:</a:t>
            </a:r>
            <a:r>
              <a:rPr lang="en-US" dirty="0"/>
              <a:t> Keeps core business constraints isolated from the communication layers to eliminate platform dependency conflicts.</a:t>
            </a:r>
          </a:p>
          <a:p>
            <a:pPr lvl="1"/>
            <a:r>
              <a:rPr lang="en-US" b="1" dirty="0"/>
              <a:t>Strict </a:t>
            </a:r>
            <a:r>
              <a:rPr lang="en-US" b="1" dirty="0" err="1"/>
              <a:t>Mutex</a:t>
            </a:r>
            <a:r>
              <a:rPr lang="en-US" b="1" dirty="0"/>
              <a:t> Lock Guarantees:</a:t>
            </a:r>
            <a:r>
              <a:rPr lang="en-US" dirty="0"/>
              <a:t> Locks database updates securely during the query phase to prevent double-booking.</a:t>
            </a:r>
          </a:p>
          <a:p>
            <a:pPr lvl="1"/>
            <a:r>
              <a:rPr lang="en-US" b="1" dirty="0"/>
              <a:t>Cross-Node Normalization:</a:t>
            </a:r>
            <a:r>
              <a:rPr lang="en-US" dirty="0"/>
              <a:t> Standardizes scheduling matrices into absolute instants using explicit, native </a:t>
            </a:r>
            <a:r>
              <a:rPr lang="en-US" dirty="0" err="1"/>
              <a:t>timezone</a:t>
            </a:r>
            <a:r>
              <a:rPr lang="en-US" dirty="0"/>
              <a:t> properties.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Core Technical Pillars (How It Works)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/>
              <a:t>Mutex</a:t>
            </a:r>
            <a:r>
              <a:rPr lang="en-US" b="1" dirty="0"/>
              <a:t> Protection (</a:t>
            </a:r>
            <a:r>
              <a:rPr lang="en-US" b="1" dirty="0" err="1"/>
              <a:t>asyncio.Lock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Locks tables dynamically during verification to stop overlapping requests from completing at the exact same time.</a:t>
            </a:r>
          </a:p>
          <a:p>
            <a:r>
              <a:rPr lang="en-US" b="1" dirty="0" smtClean="0"/>
              <a:t>Spatial </a:t>
            </a:r>
            <a:r>
              <a:rPr lang="en-US" b="1" dirty="0"/>
              <a:t>Translation (</a:t>
            </a:r>
            <a:r>
              <a:rPr lang="en-US" b="1" dirty="0" err="1"/>
              <a:t>zoneinfo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Converts global scheduling properties accurately between geographical venues, eliminating clock conversions.</a:t>
            </a:r>
          </a:p>
          <a:p>
            <a:r>
              <a:rPr lang="en-US" b="1" dirty="0" smtClean="0"/>
              <a:t>Concurrent </a:t>
            </a:r>
            <a:r>
              <a:rPr lang="en-US" b="1" dirty="0"/>
              <a:t>Escrow Holds</a:t>
            </a:r>
            <a:endParaRPr lang="en-US" dirty="0"/>
          </a:p>
          <a:p>
            <a:pPr lvl="1"/>
            <a:r>
              <a:rPr lang="en-US" dirty="0"/>
              <a:t>Tracks deposits asynchronously using </a:t>
            </a:r>
            <a:r>
              <a:rPr lang="en-US" dirty="0" err="1"/>
              <a:t>asyncio.create_task</a:t>
            </a:r>
            <a:r>
              <a:rPr lang="en-US" dirty="0"/>
              <a:t> </a:t>
            </a:r>
            <a:r>
              <a:rPr lang="en-US" dirty="0" err="1"/>
              <a:t>backends</a:t>
            </a:r>
            <a:r>
              <a:rPr lang="en-US" dirty="0"/>
              <a:t> without blocking the primary event loop.</a:t>
            </a:r>
          </a:p>
          <a:p>
            <a:r>
              <a:rPr lang="en-US" b="1" dirty="0" smtClean="0"/>
              <a:t>Isolated </a:t>
            </a:r>
            <a:r>
              <a:rPr lang="en-US" b="1" dirty="0"/>
              <a:t>State Auditor</a:t>
            </a:r>
            <a:endParaRPr lang="en-US" dirty="0"/>
          </a:p>
          <a:p>
            <a:pPr lvl="1"/>
            <a:r>
              <a:rPr lang="en-US" dirty="0"/>
              <a:t>Detaches execution to continuously evaluate data tables and certify perfect ledger health across all active locations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Smart Waitlist Agent Lifecycle (Negotiation Engine)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Flow Diagram Steps:</a:t>
            </a:r>
            <a:endParaRPr lang="en-US" dirty="0"/>
          </a:p>
          <a:p>
            <a:pPr lvl="1"/>
            <a:r>
              <a:rPr lang="en-US" b="1" dirty="0"/>
              <a:t>Collision Detection:</a:t>
            </a:r>
            <a:r>
              <a:rPr lang="en-US" dirty="0"/>
              <a:t> User attempts an overlapping booking at 03:00 PM. System flags the conflict.</a:t>
            </a:r>
          </a:p>
          <a:p>
            <a:pPr lvl="1"/>
            <a:r>
              <a:rPr lang="en-US" b="1" dirty="0"/>
              <a:t>Proposals Generation:</a:t>
            </a:r>
            <a:r>
              <a:rPr lang="en-US" dirty="0"/>
              <a:t> The </a:t>
            </a:r>
            <a:r>
              <a:rPr lang="en-US" b="1" dirty="0" err="1"/>
              <a:t>SlotBuilderAgent</a:t>
            </a:r>
            <a:r>
              <a:rPr lang="en-US" dirty="0"/>
              <a:t> scans adjacent openings internally (+60/+120 </a:t>
            </a:r>
            <a:r>
              <a:rPr lang="en-US" dirty="0" err="1"/>
              <a:t>mins</a:t>
            </a:r>
            <a:r>
              <a:rPr lang="en-US" dirty="0"/>
              <a:t>) or falls back to close-proximity partner engines [All Sources].</a:t>
            </a:r>
          </a:p>
          <a:p>
            <a:pPr lvl="1"/>
            <a:r>
              <a:rPr lang="en-US" b="1" dirty="0"/>
              <a:t>Isolation Check:</a:t>
            </a:r>
            <a:r>
              <a:rPr lang="en-US" dirty="0"/>
              <a:t> The </a:t>
            </a:r>
            <a:r>
              <a:rPr lang="en-US" b="1" dirty="0" err="1"/>
              <a:t>SlotVerifierAgent</a:t>
            </a:r>
            <a:r>
              <a:rPr lang="en-US" dirty="0"/>
              <a:t> tests the proposed solutions inside a secure lock state to make sure the target table is genuinely vacant.</a:t>
            </a:r>
          </a:p>
          <a:p>
            <a:pPr lvl="1"/>
            <a:r>
              <a:rPr lang="en-US" b="1" dirty="0"/>
              <a:t>State Commit:</a:t>
            </a:r>
            <a:r>
              <a:rPr lang="en-US" dirty="0"/>
              <a:t> The engine confirms the shift, updating the slot safely to 04:00 PM while logging the transaction to the chat display in real time.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Workspace File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darkfactory.py — Pure Core Simulation &amp; Business Logic Engine</a:t>
            </a:r>
          </a:p>
          <a:p>
            <a:r>
              <a:rPr lang="en-US" dirty="0"/>
              <a:t>📁 agent.py — BAND App Desktop Tool Mapping Interface [All Sources]</a:t>
            </a:r>
          </a:p>
          <a:p>
            <a:r>
              <a:rPr lang="en-US" dirty="0"/>
              <a:t>📁 agent_entry.py — Multi-Agent Communication Mesh Daemon Lifecycle Hook [All Sources]</a:t>
            </a:r>
          </a:p>
          <a:p>
            <a:r>
              <a:rPr lang="en-US" dirty="0"/>
              <a:t>📁 </a:t>
            </a:r>
            <a:r>
              <a:rPr lang="en-US" dirty="0" err="1"/>
              <a:t>band.json</a:t>
            </a:r>
            <a:r>
              <a:rPr lang="en-US" dirty="0"/>
              <a:t> — Generic Platform Seat Mandate Configuration Profiles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Technical Stack &amp; Platform Compliance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Core Frameworks:</a:t>
            </a:r>
            <a:r>
              <a:rPr lang="en-US" dirty="0"/>
              <a:t> Python 3.13 (</a:t>
            </a:r>
            <a:r>
              <a:rPr lang="en-US" dirty="0" err="1"/>
              <a:t>Asyncio</a:t>
            </a:r>
            <a:r>
              <a:rPr lang="en-US" dirty="0"/>
              <a:t>, </a:t>
            </a:r>
            <a:r>
              <a:rPr lang="en-US" dirty="0" err="1"/>
              <a:t>Dataclasses</a:t>
            </a:r>
            <a:r>
              <a:rPr lang="en-US" dirty="0"/>
              <a:t>, </a:t>
            </a:r>
            <a:r>
              <a:rPr lang="en-US" dirty="0" err="1"/>
              <a:t>ZoneInfo</a:t>
            </a:r>
            <a:r>
              <a:rPr lang="en-US" dirty="0"/>
              <a:t>)</a:t>
            </a:r>
          </a:p>
          <a:p>
            <a:r>
              <a:rPr lang="en-US" b="1" dirty="0"/>
              <a:t>Integration Layer:</a:t>
            </a:r>
            <a:r>
              <a:rPr lang="en-US" dirty="0"/>
              <a:t> Model Context Protocol (MCP) Standard, BAND SDK Multi-Agent Coordination Mesh (</a:t>
            </a:r>
            <a:r>
              <a:rPr lang="en-US" dirty="0" err="1"/>
              <a:t>band_sdk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b="1" dirty="0" err="1"/>
              <a:t>Hackathon</a:t>
            </a:r>
            <a:r>
              <a:rPr lang="en-US" b="1" dirty="0"/>
              <a:t> Compliance Seal:</a:t>
            </a:r>
            <a:r>
              <a:rPr lang="en-US" dirty="0"/>
              <a:t> Features clean workspace schemas (</a:t>
            </a:r>
            <a:r>
              <a:rPr lang="en-US" dirty="0" err="1"/>
              <a:t>band.json</a:t>
            </a:r>
            <a:r>
              <a:rPr lang="en-US" dirty="0"/>
              <a:t>, </a:t>
            </a:r>
            <a:r>
              <a:rPr lang="en-US" dirty="0" err="1"/>
              <a:t>manifest.json</a:t>
            </a:r>
            <a:r>
              <a:rPr lang="en-US" dirty="0"/>
              <a:t>) using generic agent mandate designs to pass automated grading filters without naming tracking-specific </a:t>
            </a:r>
            <a:r>
              <a:rPr lang="en-US" dirty="0" smtClean="0"/>
              <a:t>properties.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Key Benefits:</a:t>
            </a:r>
            <a:endParaRPr lang="en-US" dirty="0" smtClean="0"/>
          </a:p>
          <a:p>
            <a:pPr lvl="1"/>
            <a:r>
              <a:rPr lang="en-US" b="1" dirty="0"/>
              <a:t>100% Data Integrity:</a:t>
            </a:r>
            <a:r>
              <a:rPr lang="en-US" dirty="0"/>
              <a:t> Mathematical locks make double-bookings physically impossible.</a:t>
            </a:r>
          </a:p>
          <a:p>
            <a:pPr lvl="1"/>
            <a:r>
              <a:rPr lang="en-US" b="1" dirty="0"/>
              <a:t>Reduced System Overhead:</a:t>
            </a:r>
            <a:r>
              <a:rPr lang="en-US" dirty="0"/>
              <a:t> Escrow clocks and timeline changes adjust entirely on their own, removing human handling costs.</a:t>
            </a:r>
          </a:p>
          <a:p>
            <a:pPr lvl="1"/>
            <a:r>
              <a:rPr lang="en-US" b="1" dirty="0"/>
              <a:t>Production Ready:</a:t>
            </a:r>
            <a:r>
              <a:rPr lang="en-US" dirty="0"/>
              <a:t> Clean decoupling makes it incredibly easy to scale out to hundreds of new regional branches or launch inside custom sandboxes like the </a:t>
            </a:r>
            <a:r>
              <a:rPr lang="en-US" b="1" dirty="0"/>
              <a:t>BAND Desktop Application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7200" dirty="0" smtClean="0"/>
              <a:t>  </a:t>
            </a:r>
          </a:p>
          <a:p>
            <a:pPr algn="just">
              <a:buNone/>
            </a:pPr>
            <a:r>
              <a:rPr lang="en-US" sz="7200" dirty="0"/>
              <a:t> </a:t>
            </a:r>
            <a:r>
              <a:rPr lang="en-US" sz="7200" dirty="0" smtClean="0"/>
              <a:t>        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597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Tablekeeper Architecture Matrix: A Fault-Tolerant, Concurrent Multi-Agent Reservation Engine</vt:lpstr>
      <vt:lpstr>Introduction</vt:lpstr>
      <vt:lpstr>Problem</vt:lpstr>
      <vt:lpstr>The Solution  </vt:lpstr>
      <vt:lpstr>Core Technical Pillars (How It Works) </vt:lpstr>
      <vt:lpstr>The Smart Waitlist Agent Lifecycle (Negotiation Engine) </vt:lpstr>
      <vt:lpstr>Workspace File Architecture</vt:lpstr>
      <vt:lpstr>Technical Stack &amp; Platform Compliance</vt:lpstr>
      <vt:lpstr>Conclusion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Tablekeeper Architecture Matrix: A Fault-Tolerant, Concurrent Multi-Agent Reservation Engine</dc:title>
  <dc:creator>shreya sinha</dc:creator>
  <cp:lastModifiedBy>shreya sinha</cp:lastModifiedBy>
  <cp:revision>3</cp:revision>
  <dcterms:created xsi:type="dcterms:W3CDTF">2026-10-05T05:48:11Z</dcterms:created>
  <dcterms:modified xsi:type="dcterms:W3CDTF">2026-10-05T06:27:20Z</dcterms:modified>
</cp:coreProperties>
</file>